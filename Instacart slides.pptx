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86" r:id="rId4"/>
    <p:sldId id="287" r:id="rId5"/>
    <p:sldId id="288" r:id="rId6"/>
    <p:sldId id="289" r:id="rId7"/>
    <p:sldId id="278" r:id="rId8"/>
  </p:sldIdLst>
  <p:sldSz cx="9144000" cy="5143500" type="screen16x9"/>
  <p:notesSz cx="6858000" cy="9144000"/>
  <p:embeddedFontLst>
    <p:embeddedFont>
      <p:font typeface="Muli Regular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64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276" userDrawn="1">
          <p15:clr>
            <a:srgbClr val="A4A3A4"/>
          </p15:clr>
        </p15:guide>
        <p15:guide id="4" pos="55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02B"/>
    <a:srgbClr val="E6B3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3D8439-9DE2-4A89-B283-79BEC9FDFCAB}">
  <a:tblStyle styleId="{043D8439-9DE2-4A89-B283-79BEC9FDFC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8"/>
  </p:normalViewPr>
  <p:slideViewPr>
    <p:cSldViewPr snapToGrid="0" snapToObjects="1" showGuides="1">
      <p:cViewPr varScale="1">
        <p:scale>
          <a:sx n="135" d="100"/>
          <a:sy n="135" d="100"/>
        </p:scale>
        <p:origin x="864" y="168"/>
      </p:cViewPr>
      <p:guideLst>
        <p:guide orient="horz" pos="2964"/>
        <p:guide pos="24"/>
        <p:guide orient="horz" pos="276"/>
        <p:guide pos="55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278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3820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1363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727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392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E6EEE6-AD49-3A44-9E41-C2F6D93AF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4874" y="2070673"/>
            <a:ext cx="5391000" cy="1295579"/>
          </a:xfrm>
        </p:spPr>
        <p:txBody>
          <a:bodyPr/>
          <a:lstStyle/>
          <a:p>
            <a:r>
              <a:rPr lang="en-US" sz="3600" dirty="0">
                <a:solidFill>
                  <a:srgbClr val="44B02B"/>
                </a:solidFill>
              </a:rPr>
              <a:t>Interactive </a:t>
            </a:r>
            <a:br>
              <a:rPr lang="en-US" sz="3600" dirty="0">
                <a:solidFill>
                  <a:srgbClr val="44B02B"/>
                </a:solidFill>
              </a:rPr>
            </a:br>
            <a:r>
              <a:rPr lang="en-US" sz="3600" dirty="0">
                <a:solidFill>
                  <a:srgbClr val="44B02B"/>
                </a:solidFill>
              </a:rPr>
              <a:t>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95826-EED5-3E42-97FD-ADEDEE667A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83410" y="775094"/>
            <a:ext cx="5390999" cy="1295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6A5FCC-DFFF-9946-B9D5-D3B6A6C82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202" y="1792878"/>
            <a:ext cx="2918388" cy="2944368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93A89C57-3105-2540-93A5-308878506B4D}"/>
              </a:ext>
            </a:extLst>
          </p:cNvPr>
          <p:cNvSpPr txBox="1">
            <a:spLocks/>
          </p:cNvSpPr>
          <p:nvPr/>
        </p:nvSpPr>
        <p:spPr>
          <a:xfrm>
            <a:off x="1514874" y="3441667"/>
            <a:ext cx="2786929" cy="1295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800" dirty="0">
                <a:solidFill>
                  <a:srgbClr val="E6B385"/>
                </a:solidFill>
              </a:rPr>
              <a:t>Team 2</a:t>
            </a:r>
          </a:p>
          <a:p>
            <a:r>
              <a:rPr lang="en-US" sz="1800" dirty="0" err="1">
                <a:solidFill>
                  <a:srgbClr val="E6B385"/>
                </a:solidFill>
              </a:rPr>
              <a:t>Jiamin</a:t>
            </a:r>
            <a:r>
              <a:rPr lang="en-US" sz="1800" dirty="0">
                <a:solidFill>
                  <a:srgbClr val="E6B385"/>
                </a:solidFill>
              </a:rPr>
              <a:t> Li | </a:t>
            </a:r>
            <a:r>
              <a:rPr lang="en-US" sz="1800" dirty="0" err="1">
                <a:solidFill>
                  <a:srgbClr val="E6B385"/>
                </a:solidFill>
              </a:rPr>
              <a:t>Xiaohua</a:t>
            </a:r>
            <a:r>
              <a:rPr lang="en-US" sz="1800" dirty="0">
                <a:solidFill>
                  <a:srgbClr val="E6B385"/>
                </a:solidFill>
              </a:rPr>
              <a:t> Shi</a:t>
            </a:r>
          </a:p>
          <a:p>
            <a:r>
              <a:rPr lang="en-US" sz="1800" dirty="0">
                <a:solidFill>
                  <a:srgbClr val="E6B385"/>
                </a:solidFill>
              </a:rPr>
              <a:t>Jiawei Xia | </a:t>
            </a:r>
            <a:r>
              <a:rPr lang="en-US" sz="1800" dirty="0" err="1">
                <a:solidFill>
                  <a:srgbClr val="E6B385"/>
                </a:solidFill>
              </a:rPr>
              <a:t>Xumin</a:t>
            </a:r>
            <a:r>
              <a:rPr lang="en-US" sz="1800" dirty="0">
                <a:solidFill>
                  <a:srgbClr val="E6B385"/>
                </a:solidFill>
              </a:rPr>
              <a:t> Zhu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ctrTitle" idx="4294967295"/>
          </p:nvPr>
        </p:nvSpPr>
        <p:spPr>
          <a:xfrm>
            <a:off x="657519" y="138692"/>
            <a:ext cx="7713483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Company &amp; Dataset</a:t>
            </a:r>
            <a:endParaRPr dirty="0"/>
          </a:p>
        </p:txBody>
      </p:sp>
      <p:sp>
        <p:nvSpPr>
          <p:cNvPr id="80" name="Google Shape;80;p16"/>
          <p:cNvSpPr txBox="1">
            <a:spLocks noGrp="1"/>
          </p:cNvSpPr>
          <p:nvPr>
            <p:ph type="subTitle" idx="4294967295"/>
          </p:nvPr>
        </p:nvSpPr>
        <p:spPr>
          <a:xfrm>
            <a:off x="1606658" y="1456902"/>
            <a:ext cx="3511822" cy="31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dirty="0"/>
              <a:t>Instacart</a:t>
            </a:r>
            <a:endParaRPr sz="3200" b="1" dirty="0"/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2000" b="1" dirty="0"/>
              <a:t>A new way of life</a:t>
            </a:r>
          </a:p>
          <a:p>
            <a:pPr marL="342900" indent="3175">
              <a:buClr>
                <a:schemeClr val="dk1"/>
              </a:buClr>
              <a:buSzPts val="1100"/>
            </a:pPr>
            <a:r>
              <a:rPr lang="en-US" sz="1400" dirty="0"/>
              <a:t>  Shop favorite local grocery stores</a:t>
            </a:r>
          </a:p>
          <a:p>
            <a:pPr marL="342900" indent="3175">
              <a:buClr>
                <a:schemeClr val="dk1"/>
              </a:buClr>
              <a:buSzPts val="1100"/>
            </a:pPr>
            <a:r>
              <a:rPr lang="en-US" sz="1400" dirty="0"/>
              <a:t>  Schedule a delivery</a:t>
            </a:r>
          </a:p>
          <a:p>
            <a:pPr marL="342900" indent="3175">
              <a:buClr>
                <a:schemeClr val="dk1"/>
              </a:buClr>
              <a:buSzPts val="1100"/>
            </a:pPr>
            <a:r>
              <a:rPr lang="en-US" sz="1400" dirty="0"/>
              <a:t>  Get groceries delivered to you!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2000" b="1" dirty="0"/>
              <a:t>Intense competition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1400" dirty="0"/>
              <a:t>Continuous data-driven business improvement to meet customer needs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AEED1-2406-4348-9502-8D7F55AC8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42" y="1509620"/>
            <a:ext cx="1143819" cy="8709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B5D775-C413-E546-9900-4E28022BC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61" y="2660274"/>
            <a:ext cx="1128868" cy="7438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1DC167-037A-C842-AD1B-C810882DF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6" y="3717217"/>
            <a:ext cx="1113916" cy="773760"/>
          </a:xfrm>
          <a:prstGeom prst="rect">
            <a:avLst/>
          </a:prstGeom>
        </p:spPr>
      </p:pic>
      <p:sp>
        <p:nvSpPr>
          <p:cNvPr id="9" name="Google Shape;80;p16">
            <a:extLst>
              <a:ext uri="{FF2B5EF4-FFF2-40B4-BE49-F238E27FC236}">
                <a16:creationId xmlns:a16="http://schemas.microsoft.com/office/drawing/2014/main" id="{EF82908F-0329-E748-A894-F5CD7122734A}"/>
              </a:ext>
            </a:extLst>
          </p:cNvPr>
          <p:cNvSpPr txBox="1">
            <a:spLocks/>
          </p:cNvSpPr>
          <p:nvPr/>
        </p:nvSpPr>
        <p:spPr>
          <a:xfrm>
            <a:off x="5553341" y="1477217"/>
            <a:ext cx="3119306" cy="724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>
              <a:buFont typeface="Muli Regular"/>
              <a:buNone/>
            </a:pPr>
            <a:r>
              <a:rPr lang="en-US" sz="3200" b="1" dirty="0"/>
              <a:t>Dataset(2017)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160D6-11AB-2049-8628-4B624CA1AE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3341" y="2268878"/>
            <a:ext cx="1167135" cy="1249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4FFF0D-609D-8C4A-B4C7-4E0965A40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8103" y="2259451"/>
            <a:ext cx="1244991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1C20FA-0BA8-1047-8B21-DC26887563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753" y="3293888"/>
            <a:ext cx="897847" cy="9049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0C149F-5B81-9B49-B9B2-89CC1F95978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58680"/>
          <a:stretch/>
        </p:blipFill>
        <p:spPr>
          <a:xfrm>
            <a:off x="7912704" y="3374913"/>
            <a:ext cx="759943" cy="5692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80E7DF-1AE3-8940-A441-17C3BD17287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3402"/>
          <a:stretch/>
        </p:blipFill>
        <p:spPr>
          <a:xfrm>
            <a:off x="5564916" y="3615874"/>
            <a:ext cx="1040934" cy="5692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ctrTitle" idx="4294967295"/>
          </p:nvPr>
        </p:nvSpPr>
        <p:spPr>
          <a:xfrm>
            <a:off x="657519" y="138692"/>
            <a:ext cx="8486481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Motivation</a:t>
            </a:r>
            <a:endParaRPr dirty="0"/>
          </a:p>
        </p:txBody>
      </p:sp>
      <p:sp>
        <p:nvSpPr>
          <p:cNvPr id="80" name="Google Shape;80;p16"/>
          <p:cNvSpPr txBox="1">
            <a:spLocks noGrp="1"/>
          </p:cNvSpPr>
          <p:nvPr>
            <p:ph type="subTitle" idx="4294967295"/>
          </p:nvPr>
        </p:nvSpPr>
        <p:spPr>
          <a:xfrm>
            <a:off x="2053671" y="1300442"/>
            <a:ext cx="3511822" cy="66365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dirty="0"/>
              <a:t>Sales Team</a:t>
            </a:r>
            <a:endParaRPr sz="2400" b="1" dirty="0"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447C68-EBF7-8042-AB4E-D28A892AA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025" y="1403432"/>
            <a:ext cx="311115" cy="332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43E5EB-71DE-0D4D-9116-2D180A2B2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578" y="3126725"/>
            <a:ext cx="353158" cy="3447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F6349B-5E66-1D40-95E4-9B59F94B4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870" y="1365156"/>
            <a:ext cx="426651" cy="4086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29176E-BA0D-7F4B-967A-70F5371DD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0513" y="3101499"/>
            <a:ext cx="353158" cy="369975"/>
          </a:xfrm>
          <a:prstGeom prst="rect">
            <a:avLst/>
          </a:prstGeom>
        </p:spPr>
      </p:pic>
      <p:sp>
        <p:nvSpPr>
          <p:cNvPr id="19" name="Google Shape;80;p16">
            <a:extLst>
              <a:ext uri="{FF2B5EF4-FFF2-40B4-BE49-F238E27FC236}">
                <a16:creationId xmlns:a16="http://schemas.microsoft.com/office/drawing/2014/main" id="{0E75313A-1213-FF4E-B5EB-44046A424D50}"/>
              </a:ext>
            </a:extLst>
          </p:cNvPr>
          <p:cNvSpPr txBox="1">
            <a:spLocks/>
          </p:cNvSpPr>
          <p:nvPr/>
        </p:nvSpPr>
        <p:spPr>
          <a:xfrm>
            <a:off x="5574304" y="1300442"/>
            <a:ext cx="3511822" cy="66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>
              <a:buFont typeface="Muli Regular"/>
              <a:buNone/>
            </a:pPr>
            <a:r>
              <a:rPr lang="en-US" sz="2400" b="1" dirty="0"/>
              <a:t>Executive Team</a:t>
            </a:r>
          </a:p>
        </p:txBody>
      </p:sp>
      <p:sp>
        <p:nvSpPr>
          <p:cNvPr id="20" name="Google Shape;80;p16">
            <a:extLst>
              <a:ext uri="{FF2B5EF4-FFF2-40B4-BE49-F238E27FC236}">
                <a16:creationId xmlns:a16="http://schemas.microsoft.com/office/drawing/2014/main" id="{4963B227-5CB9-A048-9315-FB13EF32F326}"/>
              </a:ext>
            </a:extLst>
          </p:cNvPr>
          <p:cNvSpPr txBox="1">
            <a:spLocks/>
          </p:cNvSpPr>
          <p:nvPr/>
        </p:nvSpPr>
        <p:spPr>
          <a:xfrm>
            <a:off x="2053671" y="3001995"/>
            <a:ext cx="3511822" cy="66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>
              <a:buFont typeface="Muli Regular"/>
              <a:buNone/>
            </a:pPr>
            <a:r>
              <a:rPr lang="en-US" sz="2400" b="1" dirty="0"/>
              <a:t>Marketing Team</a:t>
            </a:r>
          </a:p>
        </p:txBody>
      </p:sp>
      <p:sp>
        <p:nvSpPr>
          <p:cNvPr id="21" name="Google Shape;80;p16">
            <a:extLst>
              <a:ext uri="{FF2B5EF4-FFF2-40B4-BE49-F238E27FC236}">
                <a16:creationId xmlns:a16="http://schemas.microsoft.com/office/drawing/2014/main" id="{4E69DF7F-CDF1-BB4E-89E1-8CE41CD2E009}"/>
              </a:ext>
            </a:extLst>
          </p:cNvPr>
          <p:cNvSpPr txBox="1">
            <a:spLocks/>
          </p:cNvSpPr>
          <p:nvPr/>
        </p:nvSpPr>
        <p:spPr>
          <a:xfrm>
            <a:off x="5597454" y="3001995"/>
            <a:ext cx="3511822" cy="66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>
              <a:buFont typeface="Muli Regular"/>
              <a:buNone/>
            </a:pPr>
            <a:r>
              <a:rPr lang="en-US" sz="2400" b="1" dirty="0"/>
              <a:t>Data Science Team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44AF3E-5CEF-8041-8FD1-25A9053B5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8521" y="1298492"/>
            <a:ext cx="1587500" cy="787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EABE6B-E1CF-3F47-BC80-1C3900F229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1153" y="2139381"/>
            <a:ext cx="1498600" cy="685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70F6C7-717B-3940-9DB4-762E7A6BFF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5021" y="2948511"/>
            <a:ext cx="1524000" cy="698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54EEF7-667E-7247-992F-FFBDD63CBE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5021" y="3785730"/>
            <a:ext cx="1498600" cy="7239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5676D35-DEC7-274F-8076-01AF88CA0A8B}"/>
              </a:ext>
            </a:extLst>
          </p:cNvPr>
          <p:cNvSpPr/>
          <p:nvPr/>
        </p:nvSpPr>
        <p:spPr>
          <a:xfrm>
            <a:off x="2062482" y="1856900"/>
            <a:ext cx="2928425" cy="9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 How’s the business going?</a:t>
            </a:r>
          </a:p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What’s the peak time?</a:t>
            </a:r>
          </a:p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Schedule of salespersons?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0A7681-E68E-284A-A247-1C30BF1CD671}"/>
              </a:ext>
            </a:extLst>
          </p:cNvPr>
          <p:cNvSpPr/>
          <p:nvPr/>
        </p:nvSpPr>
        <p:spPr>
          <a:xfrm>
            <a:off x="5574304" y="1856900"/>
            <a:ext cx="2928425" cy="9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Customer segmentation?</a:t>
            </a:r>
          </a:p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Value proposition?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AFEF8D-541E-E141-9584-13EA311A20EB}"/>
              </a:ext>
            </a:extLst>
          </p:cNvPr>
          <p:cNvSpPr/>
          <p:nvPr/>
        </p:nvSpPr>
        <p:spPr>
          <a:xfrm>
            <a:off x="2053671" y="3532647"/>
            <a:ext cx="2928425" cy="9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What are popular products?</a:t>
            </a:r>
          </a:p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What kind of campaigns should be launched?</a:t>
            </a:r>
          </a:p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Possible cross-sale / up-sale?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BAF18E-6BC7-5E4C-8E49-7F76AF60C40C}"/>
              </a:ext>
            </a:extLst>
          </p:cNvPr>
          <p:cNvSpPr/>
          <p:nvPr/>
        </p:nvSpPr>
        <p:spPr>
          <a:xfrm>
            <a:off x="5596184" y="3560403"/>
            <a:ext cx="2928425" cy="9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uli Regular"/>
                <a:sym typeface="Muli Regular"/>
              </a:rPr>
              <a:t>Improvement for the recommendation algorithms?</a:t>
            </a:r>
          </a:p>
        </p:txBody>
      </p:sp>
    </p:spTree>
    <p:extLst>
      <p:ext uri="{BB962C8B-B14F-4D97-AF65-F5344CB8AC3E}">
        <p14:creationId xmlns:p14="http://schemas.microsoft.com/office/powerpoint/2010/main" val="792007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ctrTitle" idx="4294967295"/>
          </p:nvPr>
        </p:nvSpPr>
        <p:spPr>
          <a:xfrm>
            <a:off x="657519" y="138692"/>
            <a:ext cx="8486481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Usability Test </a:t>
            </a:r>
            <a:r>
              <a:rPr lang="en" sz="2400" i="1" dirty="0"/>
              <a:t>(Profile)</a:t>
            </a:r>
            <a:endParaRPr i="1" dirty="0"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FC8261-90D8-C742-91CD-2717E4366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42" y="1720449"/>
            <a:ext cx="3926363" cy="9717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2E6436-7B61-E34A-808F-92079B85D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950" y="1708615"/>
            <a:ext cx="2395416" cy="983549"/>
          </a:xfrm>
          <a:prstGeom prst="rect">
            <a:avLst/>
          </a:prstGeom>
        </p:spPr>
      </p:pic>
      <p:sp>
        <p:nvSpPr>
          <p:cNvPr id="7" name="Google Shape;80;p16">
            <a:extLst>
              <a:ext uri="{FF2B5EF4-FFF2-40B4-BE49-F238E27FC236}">
                <a16:creationId xmlns:a16="http://schemas.microsoft.com/office/drawing/2014/main" id="{E43ADAED-1BE5-194E-AD9C-47EFBCB08862}"/>
              </a:ext>
            </a:extLst>
          </p:cNvPr>
          <p:cNvSpPr txBox="1">
            <a:spLocks/>
          </p:cNvSpPr>
          <p:nvPr/>
        </p:nvSpPr>
        <p:spPr>
          <a:xfrm>
            <a:off x="1132272" y="2753807"/>
            <a:ext cx="1334754" cy="71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 algn="ctr">
              <a:buFont typeface="Muli Regular"/>
              <a:buNone/>
            </a:pPr>
            <a:r>
              <a:rPr lang="en-US" sz="1600" dirty="0"/>
              <a:t>Construction Cost Manager</a:t>
            </a:r>
          </a:p>
        </p:txBody>
      </p:sp>
      <p:sp>
        <p:nvSpPr>
          <p:cNvPr id="8" name="Google Shape;80;p16">
            <a:extLst>
              <a:ext uri="{FF2B5EF4-FFF2-40B4-BE49-F238E27FC236}">
                <a16:creationId xmlns:a16="http://schemas.microsoft.com/office/drawing/2014/main" id="{5FF72700-10A4-DD49-A0B5-43E5241F0DA0}"/>
              </a:ext>
            </a:extLst>
          </p:cNvPr>
          <p:cNvSpPr txBox="1">
            <a:spLocks/>
          </p:cNvSpPr>
          <p:nvPr/>
        </p:nvSpPr>
        <p:spPr>
          <a:xfrm>
            <a:off x="6789383" y="2746953"/>
            <a:ext cx="1334754" cy="71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 algn="ctr">
              <a:buFont typeface="Muli Regular"/>
              <a:buNone/>
            </a:pPr>
            <a:r>
              <a:rPr lang="en-US" sz="1600" dirty="0"/>
              <a:t>Software Engineer</a:t>
            </a:r>
          </a:p>
        </p:txBody>
      </p:sp>
      <p:sp>
        <p:nvSpPr>
          <p:cNvPr id="9" name="Google Shape;80;p16">
            <a:extLst>
              <a:ext uri="{FF2B5EF4-FFF2-40B4-BE49-F238E27FC236}">
                <a16:creationId xmlns:a16="http://schemas.microsoft.com/office/drawing/2014/main" id="{8BF34288-F441-6743-9F45-A433B800927D}"/>
              </a:ext>
            </a:extLst>
          </p:cNvPr>
          <p:cNvSpPr txBox="1">
            <a:spLocks/>
          </p:cNvSpPr>
          <p:nvPr/>
        </p:nvSpPr>
        <p:spPr>
          <a:xfrm>
            <a:off x="3978741" y="2747212"/>
            <a:ext cx="1334754" cy="71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 algn="ctr">
              <a:buFont typeface="Muli Regular"/>
              <a:buNone/>
            </a:pPr>
            <a:r>
              <a:rPr lang="en-US" sz="1600" dirty="0"/>
              <a:t>Sales Specialist</a:t>
            </a:r>
          </a:p>
        </p:txBody>
      </p:sp>
      <p:sp>
        <p:nvSpPr>
          <p:cNvPr id="10" name="Google Shape;80;p16">
            <a:extLst>
              <a:ext uri="{FF2B5EF4-FFF2-40B4-BE49-F238E27FC236}">
                <a16:creationId xmlns:a16="http://schemas.microsoft.com/office/drawing/2014/main" id="{9EF6A5FF-5306-7C4C-BA52-A9EF61589998}"/>
              </a:ext>
            </a:extLst>
          </p:cNvPr>
          <p:cNvSpPr txBox="1">
            <a:spLocks/>
          </p:cNvSpPr>
          <p:nvPr/>
        </p:nvSpPr>
        <p:spPr>
          <a:xfrm>
            <a:off x="5362029" y="2747212"/>
            <a:ext cx="1334754" cy="71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 algn="ctr">
              <a:buFont typeface="Muli Regular"/>
              <a:buNone/>
            </a:pPr>
            <a:r>
              <a:rPr lang="en-US" sz="1600" dirty="0"/>
              <a:t>Media Operation</a:t>
            </a:r>
          </a:p>
        </p:txBody>
      </p:sp>
      <p:sp>
        <p:nvSpPr>
          <p:cNvPr id="11" name="Google Shape;80;p16">
            <a:extLst>
              <a:ext uri="{FF2B5EF4-FFF2-40B4-BE49-F238E27FC236}">
                <a16:creationId xmlns:a16="http://schemas.microsoft.com/office/drawing/2014/main" id="{34FCE225-9C29-134F-A2B7-0692E12FC433}"/>
              </a:ext>
            </a:extLst>
          </p:cNvPr>
          <p:cNvSpPr txBox="1">
            <a:spLocks/>
          </p:cNvSpPr>
          <p:nvPr/>
        </p:nvSpPr>
        <p:spPr>
          <a:xfrm>
            <a:off x="2752755" y="2747211"/>
            <a:ext cx="944135" cy="71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 algn="ctr">
              <a:buFont typeface="Muli Regular"/>
              <a:buNone/>
            </a:pPr>
            <a:r>
              <a:rPr lang="en-US" sz="1600" dirty="0"/>
              <a:t>Math </a:t>
            </a:r>
            <a:r>
              <a:rPr lang="en-US" sz="1600" dirty="0" err="1"/>
              <a:t>Ph.D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A1E09-73A3-F44C-B2A1-45C438672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507" y="3542310"/>
            <a:ext cx="399206" cy="3589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02CC77-40FC-5140-A340-76FC17621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384" y="3457620"/>
            <a:ext cx="396111" cy="43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3925DB-408A-0044-90D8-941CFAF62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219" y="3539334"/>
            <a:ext cx="399206" cy="3589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DAB467-DE01-4E48-B56D-9F72D8529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838" y="3546855"/>
            <a:ext cx="399206" cy="3589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69F99A-C09E-4C4B-95A1-396F1577F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003" y="3468490"/>
            <a:ext cx="396111" cy="439436"/>
          </a:xfrm>
          <a:prstGeom prst="rect">
            <a:avLst/>
          </a:prstGeom>
        </p:spPr>
      </p:pic>
      <p:sp>
        <p:nvSpPr>
          <p:cNvPr id="18" name="Google Shape;80;p16">
            <a:extLst>
              <a:ext uri="{FF2B5EF4-FFF2-40B4-BE49-F238E27FC236}">
                <a16:creationId xmlns:a16="http://schemas.microsoft.com/office/drawing/2014/main" id="{C1149F53-FA7D-8943-AD97-24C023705E03}"/>
              </a:ext>
            </a:extLst>
          </p:cNvPr>
          <p:cNvSpPr txBox="1">
            <a:spLocks/>
          </p:cNvSpPr>
          <p:nvPr/>
        </p:nvSpPr>
        <p:spPr>
          <a:xfrm>
            <a:off x="7424229" y="4725257"/>
            <a:ext cx="1188791" cy="44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 algn="ctr">
              <a:buFont typeface="Muli Regular"/>
              <a:buNone/>
            </a:pPr>
            <a:r>
              <a:rPr lang="en-US" sz="1200" dirty="0"/>
              <a:t>Data Skills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1D3776-8E98-D547-BA61-F6C9C3E72852}"/>
              </a:ext>
            </a:extLst>
          </p:cNvPr>
          <p:cNvSpPr/>
          <p:nvPr/>
        </p:nvSpPr>
        <p:spPr>
          <a:xfrm>
            <a:off x="7400435" y="4827966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3EFB7C-CB75-A140-9BC9-83A9CE429531}"/>
              </a:ext>
            </a:extLst>
          </p:cNvPr>
          <p:cNvSpPr/>
          <p:nvPr/>
        </p:nvSpPr>
        <p:spPr>
          <a:xfrm>
            <a:off x="2882247" y="3982039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C1B704-D4CA-A94D-B3B9-AF49CB00A995}"/>
              </a:ext>
            </a:extLst>
          </p:cNvPr>
          <p:cNvSpPr/>
          <p:nvPr/>
        </p:nvSpPr>
        <p:spPr>
          <a:xfrm>
            <a:off x="3072671" y="3982039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F5C7C2-61B5-B748-98F7-ED04BF35DDD8}"/>
              </a:ext>
            </a:extLst>
          </p:cNvPr>
          <p:cNvSpPr/>
          <p:nvPr/>
        </p:nvSpPr>
        <p:spPr>
          <a:xfrm>
            <a:off x="3268195" y="3979766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11942D-886E-B346-BCB8-4382FA46AD34}"/>
              </a:ext>
            </a:extLst>
          </p:cNvPr>
          <p:cNvSpPr/>
          <p:nvPr/>
        </p:nvSpPr>
        <p:spPr>
          <a:xfrm>
            <a:off x="3465993" y="3979766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33AFA2-ACBF-6042-AF56-87634FBF8F8D}"/>
              </a:ext>
            </a:extLst>
          </p:cNvPr>
          <p:cNvSpPr/>
          <p:nvPr/>
        </p:nvSpPr>
        <p:spPr>
          <a:xfrm>
            <a:off x="4498904" y="3979179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616CD5-675A-BD43-8519-EAC6022C7431}"/>
              </a:ext>
            </a:extLst>
          </p:cNvPr>
          <p:cNvSpPr/>
          <p:nvPr/>
        </p:nvSpPr>
        <p:spPr>
          <a:xfrm>
            <a:off x="4689328" y="3979179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181AC9-C3CD-3D46-844B-A30E6058D6DB}"/>
              </a:ext>
            </a:extLst>
          </p:cNvPr>
          <p:cNvSpPr/>
          <p:nvPr/>
        </p:nvSpPr>
        <p:spPr>
          <a:xfrm>
            <a:off x="5882550" y="3979179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5175D4-BEE2-2D48-B384-C49F1BB04C2B}"/>
              </a:ext>
            </a:extLst>
          </p:cNvPr>
          <p:cNvSpPr/>
          <p:nvPr/>
        </p:nvSpPr>
        <p:spPr>
          <a:xfrm>
            <a:off x="6072974" y="3979179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70D72F-29CD-D04B-A62D-88BEC229BD27}"/>
              </a:ext>
            </a:extLst>
          </p:cNvPr>
          <p:cNvSpPr/>
          <p:nvPr/>
        </p:nvSpPr>
        <p:spPr>
          <a:xfrm>
            <a:off x="7454486" y="3979179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5739C7-C196-4F42-B02F-48A4D40BDCD5}"/>
              </a:ext>
            </a:extLst>
          </p:cNvPr>
          <p:cNvSpPr/>
          <p:nvPr/>
        </p:nvSpPr>
        <p:spPr>
          <a:xfrm>
            <a:off x="1498601" y="3985966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2F92A7-C197-BF4E-82A7-567685122181}"/>
              </a:ext>
            </a:extLst>
          </p:cNvPr>
          <p:cNvSpPr/>
          <p:nvPr/>
        </p:nvSpPr>
        <p:spPr>
          <a:xfrm>
            <a:off x="1689025" y="3985966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C59BED-27E0-4E47-B64B-45915F2EB419}"/>
              </a:ext>
            </a:extLst>
          </p:cNvPr>
          <p:cNvSpPr/>
          <p:nvPr/>
        </p:nvSpPr>
        <p:spPr>
          <a:xfrm>
            <a:off x="1884549" y="3983693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2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ctrTitle" idx="4294967295"/>
          </p:nvPr>
        </p:nvSpPr>
        <p:spPr>
          <a:xfrm>
            <a:off x="657519" y="138692"/>
            <a:ext cx="8486481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Usability Test </a:t>
            </a:r>
            <a:r>
              <a:rPr lang="en" sz="2400" i="1" dirty="0"/>
              <a:t>(Design &amp; Summary)</a:t>
            </a:r>
            <a:endParaRPr i="1" dirty="0"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8" name="Google Shape;80;p16">
            <a:extLst>
              <a:ext uri="{FF2B5EF4-FFF2-40B4-BE49-F238E27FC236}">
                <a16:creationId xmlns:a16="http://schemas.microsoft.com/office/drawing/2014/main" id="{C1149F53-FA7D-8943-AD97-24C023705E03}"/>
              </a:ext>
            </a:extLst>
          </p:cNvPr>
          <p:cNvSpPr txBox="1">
            <a:spLocks/>
          </p:cNvSpPr>
          <p:nvPr/>
        </p:nvSpPr>
        <p:spPr>
          <a:xfrm>
            <a:off x="7424229" y="4725257"/>
            <a:ext cx="1188791" cy="44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 algn="ctr">
              <a:buFont typeface="Muli Regular"/>
              <a:buNone/>
            </a:pPr>
            <a:r>
              <a:rPr lang="en-US" sz="1200" dirty="0"/>
              <a:t>Data Skills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1D3776-8E98-D547-BA61-F6C9C3E72852}"/>
              </a:ext>
            </a:extLst>
          </p:cNvPr>
          <p:cNvSpPr/>
          <p:nvPr/>
        </p:nvSpPr>
        <p:spPr>
          <a:xfrm>
            <a:off x="7400435" y="4827966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ctrTitle" idx="4294967295"/>
          </p:nvPr>
        </p:nvSpPr>
        <p:spPr>
          <a:xfrm>
            <a:off x="657519" y="138692"/>
            <a:ext cx="8486481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Challenges</a:t>
            </a:r>
            <a:endParaRPr i="1" dirty="0"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8" name="Google Shape;80;p16">
            <a:extLst>
              <a:ext uri="{FF2B5EF4-FFF2-40B4-BE49-F238E27FC236}">
                <a16:creationId xmlns:a16="http://schemas.microsoft.com/office/drawing/2014/main" id="{C1149F53-FA7D-8943-AD97-24C023705E03}"/>
              </a:ext>
            </a:extLst>
          </p:cNvPr>
          <p:cNvSpPr txBox="1">
            <a:spLocks/>
          </p:cNvSpPr>
          <p:nvPr/>
        </p:nvSpPr>
        <p:spPr>
          <a:xfrm>
            <a:off x="7424229" y="4725257"/>
            <a:ext cx="1188791" cy="44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 b="0" i="0" u="none" strike="noStrike" cap="none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pPr marL="0" indent="0" algn="ctr">
              <a:buFont typeface="Muli Regular"/>
              <a:buNone/>
            </a:pPr>
            <a:r>
              <a:rPr lang="en-US" sz="1200" dirty="0"/>
              <a:t>Data Skills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1D3776-8E98-D547-BA61-F6C9C3E72852}"/>
              </a:ext>
            </a:extLst>
          </p:cNvPr>
          <p:cNvSpPr/>
          <p:nvPr/>
        </p:nvSpPr>
        <p:spPr>
          <a:xfrm>
            <a:off x="7400435" y="4827966"/>
            <a:ext cx="156230" cy="156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1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>
            <a:spLocks noGrp="1"/>
          </p:cNvSpPr>
          <p:nvPr>
            <p:ph type="ctrTitle" idx="4294967295"/>
          </p:nvPr>
        </p:nvSpPr>
        <p:spPr>
          <a:xfrm>
            <a:off x="3019926" y="2678224"/>
            <a:ext cx="48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44B02B"/>
                </a:solidFill>
              </a:rPr>
              <a:t>Thanks!</a:t>
            </a:r>
            <a:endParaRPr sz="6000" dirty="0">
              <a:solidFill>
                <a:srgbClr val="44B02B"/>
              </a:solidFill>
            </a:endParaRPr>
          </a:p>
        </p:txBody>
      </p:sp>
      <p:sp>
        <p:nvSpPr>
          <p:cNvPr id="305" name="Google Shape;305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9CB45-4716-3F46-953D-64C6DC667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774" y="1233796"/>
            <a:ext cx="1887744" cy="1493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A58078-300F-1844-9527-A8DD34F03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701" y="1298194"/>
            <a:ext cx="1749618" cy="1289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27800D-01E3-924C-B4C0-B25FAA874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275" y="1301168"/>
            <a:ext cx="1723307" cy="12826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E2F682-A2A2-904A-ADA7-6EB86084DB4D}"/>
              </a:ext>
            </a:extLst>
          </p:cNvPr>
          <p:cNvSpPr/>
          <p:nvPr/>
        </p:nvSpPr>
        <p:spPr>
          <a:xfrm>
            <a:off x="685800" y="661737"/>
            <a:ext cx="7794784" cy="3874168"/>
          </a:xfrm>
          <a:prstGeom prst="rect">
            <a:avLst/>
          </a:prstGeom>
          <a:noFill/>
          <a:ln w="57150">
            <a:solidFill>
              <a:srgbClr val="44B0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76367"/>
      </p:ext>
    </p:extLst>
  </p:cSld>
  <p:clrMapOvr>
    <a:masterClrMapping/>
  </p:clrMapOvr>
</p:sld>
</file>

<file path=ppt/theme/theme1.xml><?xml version="1.0" encoding="utf-8"?>
<a:theme xmlns:a="http://schemas.openxmlformats.org/drawingml/2006/main" name="Gower template">
  <a:themeElements>
    <a:clrScheme name="Custom 347">
      <a:dk1>
        <a:srgbClr val="65617D"/>
      </a:dk1>
      <a:lt1>
        <a:srgbClr val="FFFFFF"/>
      </a:lt1>
      <a:dk2>
        <a:srgbClr val="A7D86D"/>
      </a:dk2>
      <a:lt2>
        <a:srgbClr val="ECEBF0"/>
      </a:lt2>
      <a:accent1>
        <a:srgbClr val="A7D86D"/>
      </a:accent1>
      <a:accent2>
        <a:srgbClr val="7CBE5F"/>
      </a:accent2>
      <a:accent3>
        <a:srgbClr val="52A551"/>
      </a:accent3>
      <a:accent4>
        <a:srgbClr val="D8D5EB"/>
      </a:accent4>
      <a:accent5>
        <a:srgbClr val="A7A4BC"/>
      </a:accent5>
      <a:accent6>
        <a:srgbClr val="65617D"/>
      </a:accent6>
      <a:hlink>
        <a:srgbClr val="65617D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150</Words>
  <Application>Microsoft Macintosh PowerPoint</Application>
  <PresentationFormat>On-screen Show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Poppins</vt:lpstr>
      <vt:lpstr>Arial</vt:lpstr>
      <vt:lpstr>Poppins Light</vt:lpstr>
      <vt:lpstr>Muli Regular</vt:lpstr>
      <vt:lpstr>Gower template</vt:lpstr>
      <vt:lpstr>Interactive  Visualization</vt:lpstr>
      <vt:lpstr>Company &amp; Dataset</vt:lpstr>
      <vt:lpstr>Motivation</vt:lpstr>
      <vt:lpstr>Usability Test (Profile)</vt:lpstr>
      <vt:lpstr>Usability Test (Design &amp; Summary)</vt:lpstr>
      <vt:lpstr>Challenges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 Visualization</dc:title>
  <cp:lastModifiedBy>Karvie Xia</cp:lastModifiedBy>
  <cp:revision>25</cp:revision>
  <dcterms:modified xsi:type="dcterms:W3CDTF">2020-03-11T01:38:41Z</dcterms:modified>
</cp:coreProperties>
</file>